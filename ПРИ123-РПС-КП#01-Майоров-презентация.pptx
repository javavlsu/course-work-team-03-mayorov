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142" d="100"/>
          <a:sy n="142" d="100"/>
        </p:scale>
        <p:origin x="-660" y="-96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CB0C28-9C8C-4922-888A-9329CDF32382}" type="datetimeFigureOut">
              <a:rPr lang="ru-RU" smtClean="0"/>
              <a:pPr/>
              <a:t>30.10.2025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E9739C-8AEF-4BEF-8E82-430AB28C15AF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9398E-5120-45B4-B393-A21A4893AF58}" type="datetime1">
              <a:rPr lang="ru-RU" smtClean="0"/>
              <a:pPr/>
              <a:t>30.10.2025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DEF1C-E6E7-4C78-8DEA-B338FDE4287A}" type="datetime1">
              <a:rPr lang="ru-RU" smtClean="0"/>
              <a:pPr/>
              <a:t>30.10.2025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DB40D-B111-4431-8D4C-DE0B552427A5}" type="datetime1">
              <a:rPr lang="ru-RU" smtClean="0"/>
              <a:pPr/>
              <a:t>30.10.2025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7EC14-18FB-4066-8F87-EA655BEE2504}" type="datetime1">
              <a:rPr lang="ru-RU" smtClean="0"/>
              <a:pPr/>
              <a:t>30.10.2025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8A634-B76D-4204-AD76-9D462143DA3B}" type="datetime1">
              <a:rPr lang="ru-RU" smtClean="0"/>
              <a:pPr/>
              <a:t>30.10.2025</a:t>
            </a:fld>
            <a:endParaRPr lang="ru-RU" dirty="0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44C14-483B-4CA6-9CFA-11F42B2AD698}" type="datetime1">
              <a:rPr lang="ru-RU" smtClean="0"/>
              <a:pPr/>
              <a:t>30.10.2025</a:t>
            </a:fld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663FA-F9E5-49EA-AD6D-3D414AC7E49F}" type="datetime1">
              <a:rPr lang="ru-RU" smtClean="0"/>
              <a:pPr/>
              <a:t>30.10.2025</a:t>
            </a:fld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99EA6-3AE7-470C-AAAB-7D093DF8F7DE}" type="datetime1">
              <a:rPr lang="ru-RU" smtClean="0"/>
              <a:pPr/>
              <a:t>30.10.2025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EAC9B-8688-41AB-9475-8306E16CEB6D}" type="datetime1">
              <a:rPr lang="ru-RU" smtClean="0"/>
              <a:pPr/>
              <a:t>30.10.2025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94550C-38E2-44FF-A56B-DEC3CC39B31B}" type="datetime1">
              <a:rPr lang="ru-RU" smtClean="0"/>
              <a:pPr/>
              <a:t>30.10.2025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4BEA1-F77F-4DD2-9512-04C70B2EE435}" type="datetime1">
              <a:rPr lang="ru-RU" smtClean="0"/>
              <a:pPr/>
              <a:t>30.10.2025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6756FC-85DB-4EB0-99B0-7744A9D609BF}" type="datetime1">
              <a:rPr lang="ru-RU" smtClean="0"/>
              <a:pPr/>
              <a:t>30.10.2025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lum bright="20000" contrast="-30000"/>
          </a:blip>
          <a:srcRect l="12965" r="4062"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1" y="1"/>
            <a:ext cx="9144000" cy="5139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 smtClean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glow rad="101600">
                    <a:schemeClr val="bg1">
                      <a:alpha val="60000"/>
                    </a:schemeClr>
                  </a:glow>
                </a:effectLst>
                <a:latin typeface="Times New Roman" pitchFamily="18" charset="0"/>
                <a:cs typeface="Times New Roman" pitchFamily="18" charset="0"/>
              </a:rPr>
              <a:t>Министерство науки и высшего образования Российской Федерации</a:t>
            </a:r>
          </a:p>
          <a:p>
            <a:pPr algn="ctr"/>
            <a:r>
              <a:rPr lang="ru-RU" sz="1400" b="1" dirty="0" smtClean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glow rad="101600">
                    <a:schemeClr val="bg1">
                      <a:alpha val="60000"/>
                    </a:schemeClr>
                  </a:glow>
                </a:effectLst>
                <a:latin typeface="Times New Roman" pitchFamily="18" charset="0"/>
                <a:cs typeface="Times New Roman" pitchFamily="18" charset="0"/>
              </a:rPr>
              <a:t>Федеральное государственное бюджетное образовательное учреждение высшего образования</a:t>
            </a:r>
            <a:endParaRPr lang="ru-RU" sz="1400" dirty="0" smtClean="0">
              <a:solidFill>
                <a:schemeClr val="tx1">
                  <a:lumMod val="95000"/>
                  <a:lumOff val="5000"/>
                </a:schemeClr>
              </a:solidFill>
              <a:effectLst>
                <a:glow rad="101600">
                  <a:schemeClr val="bg1">
                    <a:alpha val="60000"/>
                  </a:schemeClr>
                </a:glow>
              </a:effectLst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ru-RU" sz="1400" dirty="0" smtClean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glow rad="101600">
                    <a:schemeClr val="bg1">
                      <a:alpha val="60000"/>
                    </a:schemeClr>
                  </a:glow>
                </a:effectLst>
                <a:latin typeface="Times New Roman" pitchFamily="18" charset="0"/>
                <a:cs typeface="Times New Roman" pitchFamily="18" charset="0"/>
              </a:rPr>
              <a:t>«Владимирский   государственный   университет</a:t>
            </a:r>
          </a:p>
          <a:p>
            <a:pPr algn="ctr"/>
            <a:r>
              <a:rPr lang="ru-RU" sz="1400" dirty="0" smtClean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glow rad="101600">
                    <a:schemeClr val="bg1">
                      <a:alpha val="60000"/>
                    </a:schemeClr>
                  </a:glow>
                </a:effectLst>
                <a:latin typeface="Times New Roman" pitchFamily="18" charset="0"/>
                <a:cs typeface="Times New Roman" pitchFamily="18" charset="0"/>
              </a:rPr>
              <a:t>имени Александра Григорьевича и Николая Григорьевича Столетовых»</a:t>
            </a:r>
          </a:p>
          <a:p>
            <a:pPr algn="ctr"/>
            <a:r>
              <a:rPr lang="ru-RU" sz="1400" b="1" dirty="0" smtClean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glow rad="101600">
                    <a:schemeClr val="bg1">
                      <a:alpha val="60000"/>
                    </a:schemeClr>
                  </a:glow>
                </a:effectLst>
                <a:latin typeface="Times New Roman" pitchFamily="18" charset="0"/>
                <a:cs typeface="Times New Roman" pitchFamily="18" charset="0"/>
              </a:rPr>
              <a:t>(ВлГУ)</a:t>
            </a:r>
            <a:endParaRPr lang="ru-RU" sz="1400" dirty="0" smtClean="0">
              <a:solidFill>
                <a:schemeClr val="tx1">
                  <a:lumMod val="95000"/>
                  <a:lumOff val="5000"/>
                </a:schemeClr>
              </a:solidFill>
              <a:effectLst>
                <a:glow rad="101600">
                  <a:schemeClr val="bg1">
                    <a:alpha val="60000"/>
                  </a:schemeClr>
                </a:glow>
              </a:effectLst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ru-RU" sz="1400" b="1" dirty="0" smtClean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glow rad="101600">
                    <a:schemeClr val="bg1">
                      <a:alpha val="60000"/>
                    </a:schemeClr>
                  </a:glow>
                </a:effectLst>
                <a:latin typeface="Times New Roman" pitchFamily="18" charset="0"/>
                <a:cs typeface="Times New Roman" pitchFamily="18" charset="0"/>
              </a:rPr>
              <a:t>Кафедра информационных систем и программной инженерии</a:t>
            </a:r>
            <a:endParaRPr lang="ru-RU" sz="1400" dirty="0" smtClean="0">
              <a:solidFill>
                <a:schemeClr val="tx1">
                  <a:lumMod val="95000"/>
                  <a:lumOff val="5000"/>
                </a:schemeClr>
              </a:solidFill>
              <a:effectLst>
                <a:glow rad="101600">
                  <a:schemeClr val="bg1">
                    <a:alpha val="60000"/>
                  </a:schemeClr>
                </a:glow>
              </a:effectLst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ru-RU" sz="1400" b="1" dirty="0" smtClean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glow rad="101600">
                    <a:schemeClr val="bg1">
                      <a:alpha val="60000"/>
                    </a:schemeClr>
                  </a:glow>
                </a:effectLst>
                <a:latin typeface="Times New Roman" pitchFamily="18" charset="0"/>
                <a:cs typeface="Times New Roman" pitchFamily="18" charset="0"/>
              </a:rPr>
              <a:t> </a:t>
            </a:r>
            <a:endParaRPr lang="ru-RU" sz="1400" dirty="0" smtClean="0">
              <a:solidFill>
                <a:schemeClr val="tx1">
                  <a:lumMod val="95000"/>
                  <a:lumOff val="5000"/>
                </a:schemeClr>
              </a:solidFill>
              <a:effectLst>
                <a:glow rad="101600">
                  <a:schemeClr val="bg1">
                    <a:alpha val="60000"/>
                  </a:schemeClr>
                </a:glow>
              </a:effectLst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ru-RU" sz="1400" b="1" dirty="0" smtClean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glow rad="101600">
                    <a:schemeClr val="bg1">
                      <a:alpha val="60000"/>
                    </a:schemeClr>
                  </a:glow>
                </a:effectLst>
                <a:latin typeface="Times New Roman" pitchFamily="18" charset="0"/>
                <a:cs typeface="Times New Roman" pitchFamily="18" charset="0"/>
              </a:rPr>
              <a:t> </a:t>
            </a:r>
            <a:endParaRPr lang="ru-RU" sz="1400" dirty="0" smtClean="0">
              <a:solidFill>
                <a:schemeClr val="tx1">
                  <a:lumMod val="95000"/>
                  <a:lumOff val="5000"/>
                </a:schemeClr>
              </a:solidFill>
              <a:effectLst>
                <a:glow rad="101600">
                  <a:schemeClr val="bg1">
                    <a:alpha val="60000"/>
                  </a:schemeClr>
                </a:glow>
              </a:effectLst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ru-RU" sz="1600" dirty="0" smtClean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glow rad="101600">
                    <a:schemeClr val="bg1">
                      <a:alpha val="60000"/>
                    </a:schemeClr>
                  </a:glow>
                </a:effectLst>
                <a:latin typeface="Times New Roman" pitchFamily="18" charset="0"/>
                <a:cs typeface="Times New Roman" pitchFamily="18" charset="0"/>
              </a:rPr>
              <a:t>Курсовой проект</a:t>
            </a:r>
          </a:p>
          <a:p>
            <a:pPr algn="ctr"/>
            <a:r>
              <a:rPr lang="ru-RU" sz="1600" dirty="0" smtClean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glow rad="101600">
                    <a:schemeClr val="bg1">
                      <a:alpha val="60000"/>
                    </a:schemeClr>
                  </a:glow>
                </a:effectLst>
                <a:latin typeface="Times New Roman" pitchFamily="18" charset="0"/>
                <a:cs typeface="Times New Roman" pitchFamily="18" charset="0"/>
              </a:rPr>
              <a:t>по дисциплине «Распределенные программные системы»</a:t>
            </a:r>
          </a:p>
          <a:p>
            <a:pPr algn="ctr"/>
            <a:r>
              <a:rPr lang="ru-RU" sz="1600" dirty="0" smtClean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glow rad="101600">
                    <a:schemeClr val="bg1">
                      <a:alpha val="60000"/>
                    </a:schemeClr>
                  </a:glow>
                </a:effectLst>
                <a:latin typeface="Times New Roman" pitchFamily="18" charset="0"/>
                <a:cs typeface="Times New Roman" pitchFamily="18" charset="0"/>
              </a:rPr>
              <a:t>Тема: «</a:t>
            </a:r>
            <a:r>
              <a:rPr lang="ru-RU" sz="1600" b="1" dirty="0" smtClean="0">
                <a:effectLst>
                  <a:glow rad="101600">
                    <a:schemeClr val="bg1">
                      <a:alpha val="60000"/>
                    </a:schemeClr>
                  </a:glow>
                </a:effectLst>
                <a:latin typeface="Times New Roman" pitchFamily="18" charset="0"/>
                <a:cs typeface="Times New Roman" pitchFamily="18" charset="0"/>
              </a:rPr>
              <a:t>Программная система </a:t>
            </a:r>
            <a:r>
              <a:rPr lang="en-US" sz="1600" b="1" dirty="0" smtClean="0">
                <a:effectLst>
                  <a:glow rad="101600">
                    <a:schemeClr val="bg1">
                      <a:alpha val="60000"/>
                    </a:schemeClr>
                  </a:glow>
                </a:effectLst>
                <a:latin typeface="Times New Roman" pitchFamily="18" charset="0"/>
                <a:cs typeface="Times New Roman" pitchFamily="18" charset="0"/>
              </a:rPr>
              <a:t>“</a:t>
            </a:r>
            <a:r>
              <a:rPr lang="ru-RU" sz="1600" b="1" dirty="0" smtClean="0">
                <a:effectLst>
                  <a:glow rad="101600">
                    <a:schemeClr val="bg1">
                      <a:alpha val="60000"/>
                    </a:schemeClr>
                  </a:glow>
                </a:effectLst>
                <a:latin typeface="Times New Roman" pitchFamily="18" charset="0"/>
                <a:cs typeface="Times New Roman" pitchFamily="18" charset="0"/>
              </a:rPr>
              <a:t>Музыкальный стриминговый сервис</a:t>
            </a:r>
            <a:r>
              <a:rPr lang="en-US" sz="1600" b="1" dirty="0" smtClean="0">
                <a:effectLst>
                  <a:glow rad="101600">
                    <a:schemeClr val="bg1">
                      <a:alpha val="60000"/>
                    </a:schemeClr>
                  </a:glow>
                </a:effectLst>
                <a:latin typeface="Times New Roman" pitchFamily="18" charset="0"/>
                <a:cs typeface="Times New Roman" pitchFamily="18" charset="0"/>
              </a:rPr>
              <a:t>”</a:t>
            </a:r>
            <a:r>
              <a:rPr lang="ru-RU" sz="1600" dirty="0" smtClean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glow rad="101600">
                    <a:schemeClr val="bg1">
                      <a:alpha val="60000"/>
                    </a:schemeClr>
                  </a:glow>
                </a:effectLst>
                <a:latin typeface="Times New Roman" pitchFamily="18" charset="0"/>
                <a:cs typeface="Times New Roman" pitchFamily="18" charset="0"/>
              </a:rPr>
              <a:t>»</a:t>
            </a:r>
          </a:p>
          <a:p>
            <a:pPr algn="ctr"/>
            <a:r>
              <a:rPr lang="ru-RU" sz="1400" dirty="0" smtClean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glow rad="101600">
                    <a:schemeClr val="bg1">
                      <a:alpha val="60000"/>
                    </a:schemeClr>
                  </a:glow>
                </a:effectLst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pPr algn="r"/>
            <a:r>
              <a:rPr lang="ru-RU" sz="1400" dirty="0" smtClean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glow rad="101600">
                    <a:schemeClr val="bg1">
                      <a:alpha val="60000"/>
                    </a:schemeClr>
                  </a:glow>
                </a:effectLst>
                <a:latin typeface="Times New Roman" pitchFamily="18" charset="0"/>
                <a:cs typeface="Times New Roman" pitchFamily="18" charset="0"/>
              </a:rPr>
              <a:t>Выполнил:</a:t>
            </a:r>
          </a:p>
          <a:p>
            <a:pPr algn="r"/>
            <a:r>
              <a:rPr lang="ru-RU" sz="1400" dirty="0" smtClean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glow rad="101600">
                    <a:schemeClr val="bg1">
                      <a:alpha val="60000"/>
                    </a:schemeClr>
                  </a:glow>
                </a:effectLst>
                <a:latin typeface="Times New Roman" pitchFamily="18" charset="0"/>
                <a:cs typeface="Times New Roman" pitchFamily="18" charset="0"/>
              </a:rPr>
              <a:t>студент гр. ПРИ-123</a:t>
            </a:r>
          </a:p>
          <a:p>
            <a:pPr algn="r"/>
            <a:r>
              <a:rPr lang="ru-RU" sz="1400" dirty="0" smtClean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glow rad="101600">
                    <a:schemeClr val="bg1">
                      <a:alpha val="60000"/>
                    </a:schemeClr>
                  </a:glow>
                </a:effectLst>
                <a:latin typeface="Times New Roman" pitchFamily="18" charset="0"/>
                <a:cs typeface="Times New Roman" pitchFamily="18" charset="0"/>
              </a:rPr>
              <a:t>Майоров М.С. </a:t>
            </a:r>
          </a:p>
          <a:p>
            <a:pPr algn="r"/>
            <a:endParaRPr lang="ru-RU" sz="1400" dirty="0" smtClean="0">
              <a:solidFill>
                <a:schemeClr val="tx1">
                  <a:lumMod val="95000"/>
                  <a:lumOff val="5000"/>
                </a:schemeClr>
              </a:solidFill>
              <a:effectLst>
                <a:glow rad="101600">
                  <a:schemeClr val="bg1">
                    <a:alpha val="60000"/>
                  </a:schemeClr>
                </a:glow>
              </a:effectLst>
              <a:latin typeface="Times New Roman" pitchFamily="18" charset="0"/>
              <a:cs typeface="Times New Roman" pitchFamily="18" charset="0"/>
            </a:endParaRPr>
          </a:p>
          <a:p>
            <a:pPr algn="r"/>
            <a:r>
              <a:rPr lang="ru-RU" sz="1400" dirty="0" smtClean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glow rad="101600">
                    <a:schemeClr val="bg1">
                      <a:alpha val="60000"/>
                    </a:schemeClr>
                  </a:glow>
                </a:effectLst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pPr algn="r"/>
            <a:r>
              <a:rPr lang="ru-RU" sz="1400" dirty="0" smtClean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glow rad="101600">
                    <a:schemeClr val="bg1">
                      <a:alpha val="60000"/>
                    </a:schemeClr>
                  </a:glow>
                </a:effectLst>
                <a:latin typeface="Times New Roman" pitchFamily="18" charset="0"/>
                <a:cs typeface="Times New Roman" pitchFamily="18" charset="0"/>
              </a:rPr>
              <a:t>Принял:</a:t>
            </a:r>
          </a:p>
          <a:p>
            <a:pPr algn="r"/>
            <a:r>
              <a:rPr lang="ru-RU" sz="1400" dirty="0" smtClean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glow rad="101600">
                    <a:schemeClr val="bg1">
                      <a:alpha val="60000"/>
                    </a:schemeClr>
                  </a:glow>
                </a:effectLst>
                <a:latin typeface="Times New Roman" pitchFamily="18" charset="0"/>
                <a:cs typeface="Times New Roman" pitchFamily="18" charset="0"/>
              </a:rPr>
              <a:t>Тимофеев А.А.</a:t>
            </a:r>
          </a:p>
          <a:p>
            <a:pPr algn="ctr"/>
            <a:r>
              <a:rPr lang="ru-RU" sz="1400" dirty="0" smtClean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glow rad="101600">
                    <a:schemeClr val="bg1">
                      <a:alpha val="60000"/>
                    </a:schemeClr>
                  </a:glow>
                </a:effectLst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pPr algn="ctr"/>
            <a:r>
              <a:rPr lang="ru-RU" sz="1400" dirty="0" smtClean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glow rad="101600">
                    <a:schemeClr val="bg1">
                      <a:alpha val="60000"/>
                    </a:schemeClr>
                  </a:glow>
                </a:effectLst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pPr algn="ctr"/>
            <a:r>
              <a:rPr lang="ru-RU" sz="1400" dirty="0" smtClean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glow rad="101600">
                    <a:schemeClr val="bg1">
                      <a:alpha val="60000"/>
                    </a:schemeClr>
                  </a:glow>
                </a:effectLst>
                <a:latin typeface="Times New Roman" pitchFamily="18" charset="0"/>
                <a:cs typeface="Times New Roman" pitchFamily="18" charset="0"/>
              </a:rPr>
              <a:t>Владимир 2025 г.</a:t>
            </a:r>
          </a:p>
          <a:p>
            <a:endParaRPr lang="ru-RU" sz="14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Цель и задачи проекта</a:t>
            </a:r>
            <a:endParaRPr lang="ru-RU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200150"/>
            <a:ext cx="8229600" cy="3800491"/>
          </a:xfrm>
        </p:spPr>
        <p:txBody>
          <a:bodyPr>
            <a:normAutofit fontScale="55000" lnSpcReduction="20000"/>
          </a:bodyPr>
          <a:lstStyle/>
          <a:p>
            <a:pPr indent="450000" algn="just">
              <a:lnSpc>
                <a:spcPct val="120000"/>
              </a:lnSpc>
              <a:buNone/>
            </a:pP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Цель проекта: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разработать программную систему музыкального стримингового сервиса, обеспечивающую удобный доступ к многопользовательской библиотеке аудиоконтента, персонализацию рекомендаций и эффективное управление музыкальным каталогом.</a:t>
            </a:r>
          </a:p>
          <a:p>
            <a:pPr indent="450000" algn="just">
              <a:lnSpc>
                <a:spcPct val="120000"/>
              </a:lnSpc>
              <a:buNone/>
            </a:pP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indent="450000" algn="just">
              <a:lnSpc>
                <a:spcPct val="120000"/>
              </a:lnSpc>
              <a:buNone/>
            </a:pP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Задачи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проекта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marL="514350" lvl="0" indent="450000" algn="just">
              <a:lnSpc>
                <a:spcPct val="120000"/>
              </a:lnSpc>
              <a:buFont typeface="+mj-lt"/>
              <a:buAutoNum type="arabicPeriod"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Провести анализ предметной области "Музыкальный стриминговый сервис" и выявить функциональные требования к системе.</a:t>
            </a:r>
          </a:p>
          <a:p>
            <a:pPr marL="514350" lvl="0" indent="450000" algn="just">
              <a:lnSpc>
                <a:spcPct val="120000"/>
              </a:lnSpc>
              <a:buFont typeface="+mj-lt"/>
              <a:buAutoNum type="arabicPeriod"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Спроектировать архитектуру программной системы на основе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UML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-моделей (диаграммы прецедентов, диаграмм классов и др.).</a:t>
            </a:r>
          </a:p>
          <a:p>
            <a:pPr marL="514350" lvl="0" indent="450000" algn="just">
              <a:lnSpc>
                <a:spcPct val="120000"/>
              </a:lnSpc>
              <a:buFont typeface="+mj-lt"/>
              <a:buAutoNum type="arabicPeriod"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Реализовать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back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-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end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и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front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-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end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части системы.</a:t>
            </a:r>
          </a:p>
          <a:p>
            <a:pPr marL="514350" lvl="0" indent="450000" algn="just">
              <a:lnSpc>
                <a:spcPct val="120000"/>
              </a:lnSpc>
              <a:buFont typeface="+mj-lt"/>
              <a:buAutoNum type="arabicPeriod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Провести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функциональное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тестирование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системы.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2</a:t>
            </a:fld>
            <a:endParaRPr lang="ru-RU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Список аналогов</a:t>
            </a:r>
            <a:endParaRPr lang="ru-RU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450000" algn="just">
              <a:lnSpc>
                <a:spcPct val="120000"/>
              </a:lnSpc>
            </a:pP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Spotify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-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Самый большой каталог музыки и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подкастов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развитые алгоритмические рекомендации (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миксы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дня, ежегодная статистика "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Spotify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Wrapped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"), бесплатный тариф с рекламой, семейные и студенческие подписки.</a:t>
            </a:r>
          </a:p>
          <a:p>
            <a:pPr marL="0" indent="450000" algn="just">
              <a:lnSpc>
                <a:spcPct val="120000"/>
              </a:lnSpc>
            </a:pP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SoundCloud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-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Платформа для независимых исполнителей, позволяющая напрямую загружать свою музыку, обширное сообщество, возможность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репостов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и комментариев к трекам.</a:t>
            </a:r>
          </a:p>
          <a:p>
            <a:pPr marL="0" indent="450000" algn="just">
              <a:lnSpc>
                <a:spcPct val="120000"/>
              </a:lnSpc>
            </a:pP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Яндекс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Музыка -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Глубокая интеграция с экосистемой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Яндекса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мощный рекомендательный алгоритм на основе ИИ, большой каталог локального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контента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функция "умные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плейлисты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".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3</a:t>
            </a:fld>
            <a:endParaRPr lang="ru-RU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Анализ целевой аудитории проекта</a:t>
            </a:r>
            <a:endParaRPr lang="ru-RU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14282" y="1200151"/>
            <a:ext cx="8472518" cy="3394472"/>
          </a:xfrm>
        </p:spPr>
        <p:txBody>
          <a:bodyPr>
            <a:normAutofit fontScale="25000" lnSpcReduction="20000"/>
          </a:bodyPr>
          <a:lstStyle/>
          <a:p>
            <a:pPr indent="457200" algn="just">
              <a:lnSpc>
                <a:spcPct val="120000"/>
              </a:lnSpc>
              <a:buNone/>
            </a:pPr>
            <a:r>
              <a:rPr lang="ru-RU" sz="6400" b="1" dirty="0" smtClean="0">
                <a:latin typeface="Times New Roman" pitchFamily="18" charset="0"/>
                <a:cs typeface="Times New Roman" pitchFamily="18" charset="0"/>
              </a:rPr>
              <a:t>Основная ЦА (пользователи):</a:t>
            </a:r>
            <a:endParaRPr lang="ru-RU" sz="6400" dirty="0" smtClean="0">
              <a:latin typeface="Times New Roman" pitchFamily="18" charset="0"/>
              <a:cs typeface="Times New Roman" pitchFamily="18" charset="0"/>
            </a:endParaRPr>
          </a:p>
          <a:p>
            <a:pPr lvl="1" indent="457200" algn="just">
              <a:lnSpc>
                <a:spcPct val="120000"/>
              </a:lnSpc>
              <a:buNone/>
            </a:pPr>
            <a:r>
              <a:rPr lang="ru-RU" sz="6400" b="1" dirty="0" smtClean="0">
                <a:latin typeface="Times New Roman" pitchFamily="18" charset="0"/>
                <a:cs typeface="Times New Roman" pitchFamily="18" charset="0"/>
              </a:rPr>
              <a:t>Слушатели 16-35 лет:</a:t>
            </a:r>
            <a:r>
              <a:rPr lang="ru-RU" sz="6400" dirty="0" smtClean="0">
                <a:latin typeface="Times New Roman" pitchFamily="18" charset="0"/>
                <a:cs typeface="Times New Roman" pitchFamily="18" charset="0"/>
              </a:rPr>
              <a:t> "Цифровое" поколение, активно использующее смартфоны и интернет для развлечений. Основные потребители музыки, открыты к новым технологиям и сервисам.</a:t>
            </a:r>
          </a:p>
          <a:p>
            <a:pPr lvl="1" indent="457200" algn="just">
              <a:lnSpc>
                <a:spcPct val="120000"/>
              </a:lnSpc>
              <a:buNone/>
            </a:pPr>
            <a:r>
              <a:rPr lang="ru-RU" sz="6400" b="1" dirty="0" smtClean="0">
                <a:latin typeface="Times New Roman" pitchFamily="18" charset="0"/>
                <a:cs typeface="Times New Roman" pitchFamily="18" charset="0"/>
              </a:rPr>
              <a:t>Студенты и молодежь:</a:t>
            </a:r>
            <a:r>
              <a:rPr lang="ru-RU" sz="6400" dirty="0" smtClean="0">
                <a:latin typeface="Times New Roman" pitchFamily="18" charset="0"/>
                <a:cs typeface="Times New Roman" pitchFamily="18" charset="0"/>
              </a:rPr>
              <a:t> Имеют гибкий график, высокую потребность в фоновой музыке для учебы и отдыха, чувствительны к цене.</a:t>
            </a:r>
          </a:p>
          <a:p>
            <a:pPr lvl="1" indent="457200" algn="just">
              <a:lnSpc>
                <a:spcPct val="120000"/>
              </a:lnSpc>
              <a:buNone/>
            </a:pPr>
            <a:r>
              <a:rPr lang="ru-RU" sz="6400" b="1" dirty="0" smtClean="0">
                <a:latin typeface="Times New Roman" pitchFamily="18" charset="0"/>
                <a:cs typeface="Times New Roman" pitchFamily="18" charset="0"/>
              </a:rPr>
              <a:t>Офисные работники:</a:t>
            </a:r>
            <a:r>
              <a:rPr lang="ru-RU" sz="6400" dirty="0" smtClean="0">
                <a:latin typeface="Times New Roman" pitchFamily="18" charset="0"/>
                <a:cs typeface="Times New Roman" pitchFamily="18" charset="0"/>
              </a:rPr>
              <a:t> Нуждаются в музыке для концентрации, создания рабочего настроения, использования в наушниках в течение дня.</a:t>
            </a:r>
          </a:p>
          <a:p>
            <a:pPr indent="457200" algn="just">
              <a:lnSpc>
                <a:spcPct val="120000"/>
              </a:lnSpc>
              <a:buNone/>
            </a:pPr>
            <a:r>
              <a:rPr lang="ru-RU" sz="6400" b="1" dirty="0" smtClean="0">
                <a:latin typeface="Times New Roman" pitchFamily="18" charset="0"/>
                <a:cs typeface="Times New Roman" pitchFamily="18" charset="0"/>
              </a:rPr>
              <a:t>Косвенная ЦА (участники экосистемы):</a:t>
            </a:r>
            <a:endParaRPr lang="ru-RU" sz="6400" dirty="0" smtClean="0">
              <a:latin typeface="Times New Roman" pitchFamily="18" charset="0"/>
              <a:cs typeface="Times New Roman" pitchFamily="18" charset="0"/>
            </a:endParaRPr>
          </a:p>
          <a:p>
            <a:pPr lvl="1" indent="457200" algn="just">
              <a:lnSpc>
                <a:spcPct val="120000"/>
              </a:lnSpc>
              <a:buNone/>
            </a:pPr>
            <a:r>
              <a:rPr lang="ru-RU" sz="6400" b="1" dirty="0" smtClean="0">
                <a:latin typeface="Times New Roman" pitchFamily="18" charset="0"/>
                <a:cs typeface="Times New Roman" pitchFamily="18" charset="0"/>
              </a:rPr>
              <a:t>Независимые исполнители и лейблы:</a:t>
            </a:r>
            <a:r>
              <a:rPr lang="ru-RU" sz="6400" dirty="0" smtClean="0">
                <a:latin typeface="Times New Roman" pitchFamily="18" charset="0"/>
                <a:cs typeface="Times New Roman" pitchFamily="18" charset="0"/>
              </a:rPr>
              <a:t> Ключевые поставщики </a:t>
            </a:r>
            <a:r>
              <a:rPr lang="ru-RU" sz="6400" dirty="0" err="1" smtClean="0">
                <a:latin typeface="Times New Roman" pitchFamily="18" charset="0"/>
                <a:cs typeface="Times New Roman" pitchFamily="18" charset="0"/>
              </a:rPr>
              <a:t>контента</a:t>
            </a:r>
            <a:r>
              <a:rPr lang="ru-RU" sz="6400" dirty="0" smtClean="0">
                <a:latin typeface="Times New Roman" pitchFamily="18" charset="0"/>
                <a:cs typeface="Times New Roman" pitchFamily="18" charset="0"/>
              </a:rPr>
              <a:t>, заинтересованы в продвижении своей музыки, монетизации и аналитике.</a:t>
            </a:r>
          </a:p>
          <a:p>
            <a:pPr lvl="1" indent="457200" algn="just">
              <a:lnSpc>
                <a:spcPct val="120000"/>
              </a:lnSpc>
              <a:buNone/>
            </a:pPr>
            <a:r>
              <a:rPr lang="ru-RU" sz="6400" b="1" dirty="0" smtClean="0">
                <a:latin typeface="Times New Roman" pitchFamily="18" charset="0"/>
                <a:cs typeface="Times New Roman" pitchFamily="18" charset="0"/>
              </a:rPr>
              <a:t>Рекламодатели:</a:t>
            </a:r>
            <a:r>
              <a:rPr lang="ru-RU" sz="6400" dirty="0" smtClean="0">
                <a:latin typeface="Times New Roman" pitchFamily="18" charset="0"/>
                <a:cs typeface="Times New Roman" pitchFamily="18" charset="0"/>
              </a:rPr>
              <a:t> Для </a:t>
            </a:r>
            <a:r>
              <a:rPr lang="ru-RU" sz="6400" dirty="0" err="1" smtClean="0">
                <a:latin typeface="Times New Roman" pitchFamily="18" charset="0"/>
                <a:cs typeface="Times New Roman" pitchFamily="18" charset="0"/>
              </a:rPr>
              <a:t>таргетирования</a:t>
            </a:r>
            <a:r>
              <a:rPr lang="ru-RU" sz="6400" dirty="0" smtClean="0">
                <a:latin typeface="Times New Roman" pitchFamily="18" charset="0"/>
                <a:cs typeface="Times New Roman" pitchFamily="18" charset="0"/>
              </a:rPr>
              <a:t> аудитории на бесплатном тарифе.</a:t>
            </a:r>
          </a:p>
          <a:p>
            <a:pPr>
              <a:buNone/>
            </a:pPr>
            <a:r>
              <a:rPr lang="ru-RU" dirty="0" smtClean="0"/>
              <a:t/>
            </a:r>
            <a:br>
              <a:rPr lang="ru-RU" dirty="0" smtClean="0"/>
            </a:b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4</a:t>
            </a:fld>
            <a:endParaRPr lang="ru-RU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Описание портрета ЦА</a:t>
            </a:r>
            <a:endParaRPr lang="ru-RU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200150"/>
            <a:ext cx="8229600" cy="3871929"/>
          </a:xfrm>
        </p:spPr>
        <p:txBody>
          <a:bodyPr>
            <a:normAutofit/>
          </a:bodyPr>
          <a:lstStyle/>
          <a:p>
            <a:pPr indent="457200" algn="just">
              <a:lnSpc>
                <a:spcPct val="120000"/>
              </a:lnSpc>
              <a:buNone/>
            </a:pPr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Портрет основного пользователя «Юрий, 22 года":</a:t>
            </a:r>
            <a:endParaRPr lang="ru-RU" sz="1600" dirty="0" smtClean="0">
              <a:latin typeface="Times New Roman" pitchFamily="18" charset="0"/>
              <a:cs typeface="Times New Roman" pitchFamily="18" charset="0"/>
            </a:endParaRPr>
          </a:p>
          <a:p>
            <a:pPr indent="457200" algn="just">
              <a:lnSpc>
                <a:spcPct val="120000"/>
              </a:lnSpc>
              <a:buNone/>
            </a:pPr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Демография: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 студент/молодой специалист, городской житель.</a:t>
            </a:r>
          </a:p>
          <a:p>
            <a:pPr indent="457200" algn="just">
              <a:lnSpc>
                <a:spcPct val="120000"/>
              </a:lnSpc>
              <a:buNone/>
            </a:pPr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Технический портрет: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 Активный пользователь смартфона (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iOS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/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Android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), имеет стабильный доступ к интернету, использует ноутбук для работы/учебы.</a:t>
            </a:r>
          </a:p>
          <a:p>
            <a:pPr indent="457200" algn="just">
              <a:lnSpc>
                <a:spcPct val="120000"/>
              </a:lnSpc>
              <a:buNone/>
            </a:pPr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Поведенческий портрет:</a:t>
            </a:r>
            <a:endParaRPr lang="ru-RU" sz="1600" dirty="0" smtClean="0">
              <a:latin typeface="Times New Roman" pitchFamily="18" charset="0"/>
              <a:cs typeface="Times New Roman" pitchFamily="18" charset="0"/>
            </a:endParaRPr>
          </a:p>
          <a:p>
            <a:pPr lvl="1" indent="457200" algn="just">
              <a:lnSpc>
                <a:spcPct val="120000"/>
              </a:lnSpc>
            </a:pP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Слушает музыку ежедневно: в транспорте, на учебе/работе, во время занятий спортом, при отдыхе дома.</a:t>
            </a:r>
          </a:p>
          <a:p>
            <a:pPr lvl="1" indent="457200" algn="just">
              <a:lnSpc>
                <a:spcPct val="120000"/>
              </a:lnSpc>
            </a:pP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Ценит удобство: не хочет скачивать музыку вручную, искать ее в разных источниках.</a:t>
            </a:r>
          </a:p>
          <a:p>
            <a:pPr lvl="1" indent="457200" algn="just">
              <a:lnSpc>
                <a:spcPct val="120000"/>
              </a:lnSpc>
            </a:pP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Любопытен к новинкам, но не всегда хочет/может их искать самостоятельно.</a:t>
            </a:r>
          </a:p>
          <a:p>
            <a:pPr lvl="1" indent="457200" algn="just">
              <a:lnSpc>
                <a:spcPct val="120000"/>
              </a:lnSpc>
            </a:pP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Использует музыку для управления настроением и создания "звукового фона".</a:t>
            </a:r>
          </a:p>
          <a:p>
            <a:pPr lvl="1" indent="457200" algn="just">
              <a:lnSpc>
                <a:spcPct val="120000"/>
              </a:lnSpc>
            </a:pP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Имеет ограниченный бюджет, поэтому чувствителен к цене подписки.</a:t>
            </a:r>
          </a:p>
          <a:p>
            <a:pPr indent="457200" algn="just">
              <a:lnSpc>
                <a:spcPct val="120000"/>
              </a:lnSpc>
              <a:buNone/>
            </a:pPr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Ценности: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 Удобство,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персонализация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, доступность, новый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контент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buNone/>
            </a:pPr>
            <a:endParaRPr lang="ru-RU" sz="16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5</a:t>
            </a:fld>
            <a:endParaRPr lang="ru-RU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Выявление потребностей ЦА</a:t>
            </a:r>
            <a:endParaRPr lang="ru-RU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6</a:t>
            </a:fld>
            <a:endParaRPr lang="ru-RU" dirty="0"/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/>
        </p:nvGraphicFramePr>
        <p:xfrm>
          <a:off x="142844" y="1000114"/>
          <a:ext cx="8858312" cy="37147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4578"/>
                <a:gridCol w="2214578"/>
                <a:gridCol w="2214578"/>
                <a:gridCol w="2214578"/>
              </a:tblGrid>
              <a:tr h="565566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quote-cjk-patch"/>
                        </a:rPr>
                        <a:t>Группа ЦА</a:t>
                      </a:r>
                      <a:endParaRPr lang="ru-RU" sz="1100" b="0" dirty="0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quote-cjk-patch"/>
                      </a:endParaRP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i="0" kern="1200" dirty="0" smtClean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"Боли" (Проблемы без сервиса)</a:t>
                      </a:r>
                      <a:endParaRPr lang="ru-RU" sz="1100" dirty="0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i="0" kern="1200" dirty="0" smtClean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Дополнительные ценности</a:t>
                      </a:r>
                      <a:endParaRPr lang="ru-RU" sz="1100" dirty="0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i="0" kern="1200" dirty="0" smtClean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n-cs"/>
                        </a:rPr>
                        <a:t>Требуемые функции системы</a:t>
                      </a:r>
                      <a:endParaRPr lang="ru-RU" sz="1100" dirty="0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anchor="ctr"/>
                </a:tc>
              </a:tr>
              <a:tr h="1385653">
                <a:tc>
                  <a:txBody>
                    <a:bodyPr/>
                    <a:lstStyle/>
                    <a:p>
                      <a:pPr algn="ctr"/>
                      <a:r>
                        <a:rPr lang="ru-RU" sz="16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Основная ЦА (Слушатели)</a:t>
                      </a:r>
                      <a:endParaRPr lang="ru-RU" sz="160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7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• Неудобство: Необходимость скачивать музыку, занимать память устройства, вручную создавать </a:t>
                      </a:r>
                      <a:r>
                        <a:rPr lang="ru-RU" sz="700" b="0" i="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плейлисты</a:t>
                      </a:r>
                      <a:r>
                        <a:rPr lang="ru-RU" sz="7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r>
                        <a:rPr lang="ru-RU" sz="700" b="0" dirty="0" smtClean="0"/>
                        <a:t/>
                      </a:r>
                      <a:br>
                        <a:rPr lang="ru-RU" sz="700" b="0" dirty="0" smtClean="0"/>
                      </a:br>
                      <a:r>
                        <a:rPr lang="ru-RU" sz="7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• Ограниченность доступа: Маленькая личная библиотека, невозможность легально послушать новинку или редкий трек.</a:t>
                      </a:r>
                      <a:r>
                        <a:rPr lang="ru-RU" sz="700" b="0" dirty="0" smtClean="0"/>
                        <a:t/>
                      </a:r>
                      <a:br>
                        <a:rPr lang="ru-RU" sz="700" b="0" dirty="0" smtClean="0"/>
                      </a:br>
                      <a:r>
                        <a:rPr lang="ru-RU" sz="7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• Время на поиск: Сложно самостоятельно находить новую музыку по вкусу.</a:t>
                      </a:r>
                      <a:r>
                        <a:rPr lang="ru-RU" sz="700" b="0" dirty="0" smtClean="0"/>
                        <a:t/>
                      </a:r>
                      <a:br>
                        <a:rPr lang="ru-RU" sz="700" b="0" dirty="0" smtClean="0"/>
                      </a:br>
                      <a:r>
                        <a:rPr lang="ru-RU" sz="7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• Реклама: Назойливая реклама на нелегальных площадках и </a:t>
                      </a:r>
                      <a:r>
                        <a:rPr lang="ru-RU" sz="700" b="0" i="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YouTube</a:t>
                      </a:r>
                      <a:r>
                        <a:rPr lang="ru-RU" sz="7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r>
                        <a:rPr lang="ru-RU" sz="700" b="0" dirty="0" smtClean="0"/>
                        <a:t/>
                      </a:r>
                      <a:br>
                        <a:rPr lang="ru-RU" sz="700" b="0" dirty="0" smtClean="0"/>
                      </a:br>
                      <a:r>
                        <a:rPr lang="ru-RU" sz="7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• Низкое качество: Нестабильный </a:t>
                      </a:r>
                      <a:r>
                        <a:rPr lang="ru-RU" sz="700" b="0" i="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битрейт</a:t>
                      </a:r>
                      <a:r>
                        <a:rPr lang="ru-RU" sz="7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плохое звучание.</a:t>
                      </a:r>
                      <a:endParaRPr lang="ru-RU" sz="7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7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• Открытие новой музыки: Сервис как "персональный музыкальный гид".</a:t>
                      </a:r>
                      <a:r>
                        <a:rPr lang="ru-RU" sz="700" b="0" dirty="0" smtClean="0"/>
                        <a:t/>
                      </a:r>
                      <a:br>
                        <a:rPr lang="ru-RU" sz="700" b="0" dirty="0" smtClean="0"/>
                      </a:br>
                      <a:endParaRPr lang="ru-RU" sz="7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7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• Легкий поиск и навигация по каталогу.</a:t>
                      </a:r>
                      <a:r>
                        <a:rPr lang="ru-RU" sz="700" b="0" dirty="0" smtClean="0"/>
                        <a:t/>
                      </a:r>
                      <a:br>
                        <a:rPr lang="ru-RU" sz="700" b="0" dirty="0" smtClean="0"/>
                      </a:br>
                      <a:r>
                        <a:rPr lang="ru-RU" sz="7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• Создание и редактирование личных </a:t>
                      </a:r>
                      <a:r>
                        <a:rPr lang="ru-RU" sz="700" b="0" i="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плейлистов</a:t>
                      </a:r>
                      <a:r>
                        <a:rPr lang="ru-RU" sz="7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r>
                        <a:rPr lang="ru-RU" sz="700" b="0" dirty="0" smtClean="0"/>
                        <a:t/>
                      </a:r>
                      <a:br>
                        <a:rPr lang="ru-RU" sz="700" b="0" dirty="0" smtClean="0"/>
                      </a:br>
                      <a:r>
                        <a:rPr lang="ru-RU" sz="7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• Система рекомендаций ("Лента открытий", "</a:t>
                      </a:r>
                      <a:r>
                        <a:rPr lang="ru-RU" sz="700" b="0" i="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Микс</a:t>
                      </a:r>
                      <a:r>
                        <a:rPr lang="ru-RU" sz="7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дня", рекомендации на основе настроения/жанра).</a:t>
                      </a:r>
                      <a:r>
                        <a:rPr lang="ru-RU" sz="700" b="0" dirty="0" smtClean="0"/>
                        <a:t/>
                      </a:r>
                      <a:br>
                        <a:rPr lang="ru-RU" sz="700" b="0" dirty="0" smtClean="0"/>
                      </a:br>
                      <a:r>
                        <a:rPr lang="ru-RU" sz="7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• Несколько тарифов (бесплатный с рекламой, </a:t>
                      </a:r>
                      <a:r>
                        <a:rPr lang="ru-RU" sz="700" b="0" i="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премиум</a:t>
                      </a:r>
                      <a:r>
                        <a:rPr lang="ru-RU" sz="7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без рекламы.</a:t>
                      </a:r>
                      <a:r>
                        <a:rPr lang="ru-RU" sz="700" b="0" dirty="0" smtClean="0"/>
                        <a:t/>
                      </a:r>
                      <a:br>
                        <a:rPr lang="ru-RU" sz="700" b="0" dirty="0" smtClean="0"/>
                      </a:br>
                      <a:endParaRPr lang="ru-RU" sz="700" b="0" dirty="0"/>
                    </a:p>
                  </a:txBody>
                  <a:tcPr/>
                </a:tc>
              </a:tr>
              <a:tr h="1133716">
                <a:tc>
                  <a:txBody>
                    <a:bodyPr/>
                    <a:lstStyle/>
                    <a:p>
                      <a:pPr algn="ctr"/>
                      <a:r>
                        <a:rPr lang="ru-RU" sz="16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Косвенная ЦА (Исполнители)</a:t>
                      </a:r>
                      <a:endParaRPr lang="ru-RU" sz="160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7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• Сложность продвижения: Высокая конкуренция, трудно донести музыку до целевой аудитории.</a:t>
                      </a:r>
                      <a:r>
                        <a:rPr lang="ru-RU" sz="700" b="0" dirty="0" smtClean="0"/>
                        <a:t/>
                      </a:r>
                      <a:br>
                        <a:rPr lang="ru-RU" sz="700" b="0" dirty="0" smtClean="0"/>
                      </a:br>
                      <a:r>
                        <a:rPr lang="ru-RU" sz="7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• Нелегальное распространение: Потери прибыли из-за пиратства.</a:t>
                      </a:r>
                      <a:r>
                        <a:rPr lang="ru-RU" sz="700" b="0" dirty="0" smtClean="0"/>
                        <a:t/>
                      </a:r>
                      <a:br>
                        <a:rPr lang="ru-RU" sz="700" b="0" dirty="0" smtClean="0"/>
                      </a:br>
                      <a:r>
                        <a:rPr lang="ru-RU" sz="7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• Отсутствие аналитики: Непонятно, кто и где слушает их музыку.</a:t>
                      </a:r>
                      <a:r>
                        <a:rPr lang="ru-RU" sz="700" b="0" dirty="0" smtClean="0"/>
                        <a:t/>
                      </a:r>
                      <a:br>
                        <a:rPr lang="ru-RU" sz="700" b="0" dirty="0" smtClean="0"/>
                      </a:br>
                      <a:r>
                        <a:rPr lang="ru-RU" sz="7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• Сложности с монетизацией: Непрозрачные схемы выплат от некоторых площадок.</a:t>
                      </a:r>
                      <a:endParaRPr lang="ru-RU" sz="7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7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• Прямой канал дистрибуции и монетизации.</a:t>
                      </a:r>
                      <a:r>
                        <a:rPr lang="ru-RU" sz="700" b="0" dirty="0" smtClean="0"/>
                        <a:t/>
                      </a:r>
                      <a:br>
                        <a:rPr lang="ru-RU" sz="700" b="0" dirty="0" smtClean="0"/>
                      </a:br>
                      <a:r>
                        <a:rPr lang="ru-RU" sz="7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• Инструмент для анализа аудитории.</a:t>
                      </a:r>
                      <a:r>
                        <a:rPr lang="ru-RU" sz="700" b="0" dirty="0" smtClean="0"/>
                        <a:t/>
                      </a:r>
                      <a:br>
                        <a:rPr lang="ru-RU" sz="700" b="0" dirty="0" smtClean="0"/>
                      </a:br>
                      <a:r>
                        <a:rPr lang="ru-RU" sz="7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• Легальность и защита прав.</a:t>
                      </a:r>
                      <a:endParaRPr lang="ru-RU" sz="7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7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• Личный кабинет исполнителя/лейбла для загрузки </a:t>
                      </a:r>
                      <a:r>
                        <a:rPr lang="ru-RU" sz="700" b="0" i="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контента</a:t>
                      </a:r>
                      <a:r>
                        <a:rPr lang="ru-RU" sz="7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и управления метаданными.</a:t>
                      </a:r>
                      <a:r>
                        <a:rPr lang="ru-RU" sz="700" b="0" dirty="0" smtClean="0"/>
                        <a:t/>
                      </a:r>
                      <a:br>
                        <a:rPr lang="ru-RU" sz="700" b="0" dirty="0" smtClean="0"/>
                      </a:br>
                      <a:r>
                        <a:rPr lang="ru-RU" sz="7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• Подробная аналитика по прослушиваниям.</a:t>
                      </a:r>
                      <a:r>
                        <a:rPr lang="ru-RU" sz="700" b="0" dirty="0" smtClean="0"/>
                        <a:t/>
                      </a:r>
                      <a:br>
                        <a:rPr lang="ru-RU" sz="700" b="0" dirty="0" smtClean="0"/>
                      </a:br>
                      <a:r>
                        <a:rPr lang="ru-RU" sz="7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• Продвижение в рекомендациях и редакционных подборках.</a:t>
                      </a:r>
                      <a:r>
                        <a:rPr lang="ru-RU" sz="700" b="0" dirty="0" smtClean="0"/>
                        <a:t/>
                      </a:r>
                      <a:br>
                        <a:rPr lang="ru-RU" sz="700" b="0" dirty="0" smtClean="0"/>
                      </a:br>
                      <a:r>
                        <a:rPr lang="ru-RU" sz="7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• Прозрачная система отчетности и выплат роялти.</a:t>
                      </a:r>
                      <a:endParaRPr lang="ru-RU" sz="700" b="0" dirty="0"/>
                    </a:p>
                  </a:txBody>
                  <a:tcPr/>
                </a:tc>
              </a:tr>
              <a:tr h="629842">
                <a:tc>
                  <a:txBody>
                    <a:bodyPr/>
                    <a:lstStyle/>
                    <a:p>
                      <a:pPr algn="ctr"/>
                      <a:r>
                        <a:rPr lang="ru-RU" sz="16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Косвенная ЦА (Рекламодатели)</a:t>
                      </a:r>
                      <a:endParaRPr lang="ru-RU" sz="160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7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• Неточное </a:t>
                      </a:r>
                      <a:r>
                        <a:rPr lang="ru-RU" sz="700" b="0" i="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таргетирование</a:t>
                      </a:r>
                      <a:r>
                        <a:rPr lang="ru-RU" sz="7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: Реклама не доходит до нужной аудитории.</a:t>
                      </a:r>
                      <a:endParaRPr lang="ru-RU" sz="7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7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• Доступ к лояльной и сегментированной аудитории с известными музыкальными предпочтениями.</a:t>
                      </a:r>
                      <a:r>
                        <a:rPr lang="ru-RU" sz="700" b="0" dirty="0" smtClean="0"/>
                        <a:t/>
                      </a:r>
                      <a:br>
                        <a:rPr lang="ru-RU" sz="700" b="0" dirty="0" smtClean="0"/>
                      </a:br>
                      <a:r>
                        <a:rPr lang="ru-RU" sz="7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• Интеграция в пользовательский опыт.</a:t>
                      </a:r>
                      <a:endParaRPr lang="ru-RU" sz="7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7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• Система </a:t>
                      </a:r>
                      <a:r>
                        <a:rPr lang="ru-RU" sz="700" b="0" i="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таргетированной</a:t>
                      </a:r>
                      <a:r>
                        <a:rPr lang="ru-RU" sz="7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аудио- и </a:t>
                      </a:r>
                      <a:r>
                        <a:rPr lang="ru-RU" sz="700" b="0" i="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видеорекламы</a:t>
                      </a:r>
                      <a:r>
                        <a:rPr lang="ru-RU" sz="7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 в бесплатном тарифе.</a:t>
                      </a:r>
                      <a:r>
                        <a:rPr lang="ru-RU" sz="700" b="0" dirty="0" smtClean="0"/>
                        <a:t/>
                      </a:r>
                      <a:br>
                        <a:rPr lang="ru-RU" sz="700" b="0" dirty="0" smtClean="0"/>
                      </a:br>
                      <a:r>
                        <a:rPr lang="ru-RU" sz="7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• Спонсорство </a:t>
                      </a:r>
                      <a:r>
                        <a:rPr lang="ru-RU" sz="700" b="0" i="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плейлистов</a:t>
                      </a:r>
                      <a:r>
                        <a:rPr lang="ru-RU" sz="7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 или радиостанций.</a:t>
                      </a:r>
                      <a:r>
                        <a:rPr lang="ru-RU" sz="700" b="0" dirty="0" smtClean="0"/>
                        <a:t/>
                      </a:r>
                      <a:br>
                        <a:rPr lang="ru-RU" sz="700" b="0" dirty="0" smtClean="0"/>
                      </a:br>
                      <a:r>
                        <a:rPr lang="ru-RU" sz="7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• </a:t>
                      </a:r>
                      <a:r>
                        <a:rPr lang="ru-RU" sz="700" b="0" i="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Брендированные</a:t>
                      </a:r>
                      <a:r>
                        <a:rPr lang="ru-RU" sz="7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страницы и события.</a:t>
                      </a:r>
                      <a:endParaRPr lang="ru-RU" sz="700" b="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Календарный план проекта</a:t>
            </a:r>
            <a:endParaRPr lang="ru-RU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7</a:t>
            </a:fld>
            <a:endParaRPr lang="ru-RU" dirty="0"/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/>
        </p:nvGraphicFramePr>
        <p:xfrm>
          <a:off x="214282" y="1071552"/>
          <a:ext cx="8786876" cy="3643338"/>
        </p:xfrm>
        <a:graphic>
          <a:graphicData uri="http://schemas.openxmlformats.org/drawingml/2006/table">
            <a:tbl>
              <a:tblPr/>
              <a:tblGrid>
                <a:gridCol w="3109610"/>
                <a:gridCol w="946211"/>
                <a:gridCol w="946211"/>
                <a:gridCol w="946211"/>
                <a:gridCol w="946211"/>
                <a:gridCol w="946211"/>
                <a:gridCol w="946211"/>
              </a:tblGrid>
              <a:tr h="479356"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Задача</a:t>
                      </a:r>
                    </a:p>
                  </a:txBody>
                  <a:tcPr marL="9274" marR="9274" marT="92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08.10.2025</a:t>
                      </a:r>
                    </a:p>
                  </a:txBody>
                  <a:tcPr marL="9274" marR="9274" marT="92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12.10.2025</a:t>
                      </a:r>
                    </a:p>
                  </a:txBody>
                  <a:tcPr marL="9274" marR="9274" marT="92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21.10.2025</a:t>
                      </a:r>
                    </a:p>
                  </a:txBody>
                  <a:tcPr marL="9274" marR="9274" marT="92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04.11.2025</a:t>
                      </a:r>
                    </a:p>
                  </a:txBody>
                  <a:tcPr marL="9274" marR="9274" marT="92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18.11.2025</a:t>
                      </a:r>
                    </a:p>
                  </a:txBody>
                  <a:tcPr marL="9274" marR="9274" marT="92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16.12.2025</a:t>
                      </a:r>
                    </a:p>
                  </a:txBody>
                  <a:tcPr marL="9274" marR="9274" marT="92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0280"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Описание предметной области, презентация идеи</a:t>
                      </a:r>
                    </a:p>
                  </a:txBody>
                  <a:tcPr marL="9274" marR="9274" marT="92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274" marR="9274" marT="92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274" marR="9274" marT="92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274" marR="9274" marT="92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274" marR="9274" marT="92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274" marR="9274" marT="92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274" marR="9274" marT="92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0280"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Анализ бизнес-процесса, требования к системе</a:t>
                      </a:r>
                    </a:p>
                  </a:txBody>
                  <a:tcPr marL="9274" marR="9274" marT="92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274" marR="9274" marT="92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274" marR="9274" marT="92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274" marR="9274" marT="92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274" marR="9274" marT="92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274" marR="9274" marT="92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274" marR="9274" marT="92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0280"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Макет интерфейса ПС</a:t>
                      </a:r>
                    </a:p>
                  </a:txBody>
                  <a:tcPr marL="9274" marR="9274" marT="92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274" marR="9274" marT="92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274" marR="9274" marT="92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274" marR="9274" marT="92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274" marR="9274" marT="92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274" marR="9274" marT="92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274" marR="9274" marT="92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0280"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Проектирование ПС: модель данных, структура БД</a:t>
                      </a:r>
                    </a:p>
                  </a:txBody>
                  <a:tcPr marL="9274" marR="9274" marT="92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274" marR="9274" marT="92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274" marR="9274" marT="92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274" marR="9274" marT="92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274" marR="9274" marT="92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274" marR="9274" marT="92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274" marR="9274" marT="92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2582"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Реализация прототипа: реализация контроллеров, заглушки</a:t>
                      </a:r>
                    </a:p>
                  </a:txBody>
                  <a:tcPr marL="9274" marR="9274" marT="92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274" marR="9274" marT="92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274" marR="9274" marT="92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274" marR="9274" marT="92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274" marR="9274" marT="92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274" marR="9274" marT="92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274" marR="9274" marT="92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0280"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Реализация прототипа: реалзация готового интерфейса</a:t>
                      </a:r>
                    </a:p>
                  </a:txBody>
                  <a:tcPr marL="9274" marR="9274" marT="92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274" marR="9274" marT="92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274" marR="9274" marT="92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274" marR="9274" marT="92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274" marR="9274" marT="92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274" marR="9274" marT="92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274" marR="9274" marT="927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Обзор используемых технологий</a:t>
            </a:r>
            <a:endParaRPr lang="ru-RU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Основной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фреймворк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Java spring;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Базы данных и хранение данных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MySql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;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Веб-интерфейс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Spring MVC;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Тестирование: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JUnit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  <a:r>
              <a:rPr lang="ru-RU" dirty="0" smtClean="0"/>
              <a:t/>
            </a:r>
            <a:br>
              <a:rPr lang="ru-RU" dirty="0" smtClean="0"/>
            </a:b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8</a:t>
            </a:fld>
            <a:endParaRPr lang="ru-RU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Анализ аналогов</a:t>
            </a:r>
            <a:endParaRPr lang="ru-RU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9</a:t>
            </a:fld>
            <a:endParaRPr lang="ru-RU" dirty="0"/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/>
        </p:nvGraphicFramePr>
        <p:xfrm>
          <a:off x="214282" y="1000114"/>
          <a:ext cx="8715436" cy="3143272"/>
        </p:xfrm>
        <a:graphic>
          <a:graphicData uri="http://schemas.openxmlformats.org/drawingml/2006/table">
            <a:tbl>
              <a:tblPr/>
              <a:tblGrid>
                <a:gridCol w="1176661"/>
                <a:gridCol w="1214215"/>
                <a:gridCol w="1139108"/>
                <a:gridCol w="876238"/>
                <a:gridCol w="1001415"/>
                <a:gridCol w="1001415"/>
                <a:gridCol w="1304969"/>
                <a:gridCol w="1001415"/>
              </a:tblGrid>
              <a:tr h="1152532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8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6569" marR="6569" marT="656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>
                          <a:solidFill>
                            <a:srgbClr val="000000"/>
                          </a:solidFill>
                          <a:latin typeface="Segoe UI"/>
                        </a:rPr>
                        <a:t>Качество рекомендаций</a:t>
                      </a:r>
                    </a:p>
                  </a:txBody>
                  <a:tcPr marL="6569" marR="6569" marT="656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>
                          <a:solidFill>
                            <a:srgbClr val="000000"/>
                          </a:solidFill>
                          <a:latin typeface="Segoe UI"/>
                        </a:rPr>
                        <a:t>Разнообразие </a:t>
                      </a:r>
                      <a:r>
                        <a:rPr lang="ru-RU" sz="1100" b="1" i="0" u="none" strike="noStrike" dirty="0" err="1">
                          <a:solidFill>
                            <a:srgbClr val="000000"/>
                          </a:solidFill>
                          <a:latin typeface="Segoe UI"/>
                        </a:rPr>
                        <a:t>контента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latin typeface="Segoe UI"/>
                      </a:endParaRPr>
                    </a:p>
                  </a:txBody>
                  <a:tcPr marL="6569" marR="6569" marT="656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>
                          <a:solidFill>
                            <a:srgbClr val="000000"/>
                          </a:solidFill>
                          <a:latin typeface="Segoe UI"/>
                        </a:rPr>
                        <a:t>Качество звука</a:t>
                      </a:r>
                    </a:p>
                  </a:txBody>
                  <a:tcPr marL="6569" marR="6569" marT="656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>
                          <a:solidFill>
                            <a:srgbClr val="000000"/>
                          </a:solidFill>
                          <a:latin typeface="Segoe UI"/>
                        </a:rPr>
                        <a:t>Стабильность </a:t>
                      </a:r>
                      <a:r>
                        <a:rPr lang="ru-RU" sz="1100" b="1" i="0" u="none" strike="noStrike" dirty="0" err="1">
                          <a:solidFill>
                            <a:srgbClr val="000000"/>
                          </a:solidFill>
                          <a:latin typeface="Segoe UI"/>
                        </a:rPr>
                        <a:t>стриминга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latin typeface="Segoe UI"/>
                      </a:endParaRPr>
                    </a:p>
                  </a:txBody>
                  <a:tcPr marL="6569" marR="6569" marT="656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>
                          <a:solidFill>
                            <a:srgbClr val="000000"/>
                          </a:solidFill>
                          <a:latin typeface="Segoe UI"/>
                        </a:rPr>
                        <a:t>Удобство интерфейса</a:t>
                      </a:r>
                    </a:p>
                  </a:txBody>
                  <a:tcPr marL="6569" marR="6569" marT="656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 err="1">
                          <a:solidFill>
                            <a:srgbClr val="000000"/>
                          </a:solidFill>
                          <a:latin typeface="Segoe UI"/>
                        </a:rPr>
                        <a:t>Персонализация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latin typeface="Segoe UI"/>
                      </a:endParaRPr>
                    </a:p>
                  </a:txBody>
                  <a:tcPr marL="6569" marR="6569" marT="656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 dirty="0">
                          <a:solidFill>
                            <a:srgbClr val="000000"/>
                          </a:solidFill>
                          <a:latin typeface="Segoe UI"/>
                        </a:rPr>
                        <a:t>Стоимость подписки</a:t>
                      </a:r>
                    </a:p>
                  </a:txBody>
                  <a:tcPr marL="6569" marR="6569" marT="656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35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dirty="0" err="1">
                          <a:solidFill>
                            <a:srgbClr val="000000"/>
                          </a:solidFill>
                          <a:latin typeface="Segoe UI"/>
                        </a:rPr>
                        <a:t>Spotify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latin typeface="Segoe UI"/>
                      </a:endParaRPr>
                    </a:p>
                  </a:txBody>
                  <a:tcPr marL="6569" marR="6569" marT="656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28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6569" marR="6569" marT="656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28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6569" marR="6569" marT="656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28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6569" marR="6569" marT="656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28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6569" marR="6569" marT="656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28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6569" marR="6569" marT="656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28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6569" marR="6569" marT="656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28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6569" marR="6569" marT="656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35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dirty="0" err="1">
                          <a:solidFill>
                            <a:srgbClr val="000000"/>
                          </a:solidFill>
                          <a:latin typeface="Segoe UI"/>
                        </a:rPr>
                        <a:t>SoundCloud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latin typeface="Segoe UI"/>
                      </a:endParaRPr>
                    </a:p>
                  </a:txBody>
                  <a:tcPr marL="6569" marR="6569" marT="656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28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6569" marR="6569" marT="656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28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6569" marR="6569" marT="656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28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6569" marR="6569" marT="656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28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6569" marR="6569" marT="656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28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6569" marR="6569" marT="656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28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6569" marR="6569" marT="656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28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6569" marR="6569" marT="656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3580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400" b="1" i="0" u="none" strike="noStrike" dirty="0" err="1" smtClean="0">
                          <a:solidFill>
                            <a:srgbClr val="000000"/>
                          </a:solidFill>
                          <a:latin typeface="Segoe UI"/>
                        </a:rPr>
                        <a:t>Яндекс</a:t>
                      </a:r>
                      <a:endParaRPr lang="ru-RU" sz="1400" b="1" i="0" u="none" strike="noStrike" dirty="0" smtClean="0">
                        <a:solidFill>
                          <a:srgbClr val="000000"/>
                        </a:solidFill>
                        <a:latin typeface="Segoe UI"/>
                      </a:endParaRPr>
                    </a:p>
                    <a:p>
                      <a:pPr algn="ctr" fontAlgn="ctr"/>
                      <a:r>
                        <a:rPr lang="ru-RU" sz="1400" b="1" i="0" u="none" strike="noStrike" dirty="0" smtClean="0">
                          <a:solidFill>
                            <a:srgbClr val="000000"/>
                          </a:solidFill>
                          <a:latin typeface="Segoe UI"/>
                        </a:rPr>
                        <a:t>Музыка</a:t>
                      </a:r>
                      <a:endParaRPr lang="ru-RU" sz="1400" b="1" i="0" u="none" strike="noStrike" dirty="0">
                        <a:solidFill>
                          <a:srgbClr val="000000"/>
                        </a:solidFill>
                        <a:latin typeface="Segoe UI"/>
                      </a:endParaRPr>
                    </a:p>
                  </a:txBody>
                  <a:tcPr marL="6569" marR="6569" marT="656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28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6569" marR="6569" marT="656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28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6569" marR="6569" marT="656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28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6569" marR="6569" marT="656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28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6569" marR="6569" marT="656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28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6569" marR="6569" marT="656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28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6569" marR="6569" marT="656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28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6569" marR="6569" marT="656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Описание предметной области</a:t>
            </a:r>
            <a:endParaRPr lang="ru-RU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158" y="928676"/>
            <a:ext cx="8543956" cy="3786214"/>
          </a:xfrm>
        </p:spPr>
        <p:txBody>
          <a:bodyPr>
            <a:normAutofit fontScale="40000" lnSpcReduction="20000"/>
          </a:bodyPr>
          <a:lstStyle/>
          <a:p>
            <a:pPr marL="0" indent="457200" algn="just">
              <a:lnSpc>
                <a:spcPct val="120000"/>
              </a:lnSpc>
              <a:buNone/>
            </a:pPr>
            <a:r>
              <a:rPr lang="ru-RU" sz="3500" b="1" dirty="0" smtClean="0">
                <a:latin typeface="Times New Roman" pitchFamily="18" charset="0"/>
                <a:cs typeface="Times New Roman" pitchFamily="18" charset="0"/>
              </a:rPr>
              <a:t>Характеристика предметной области:</a:t>
            </a:r>
          </a:p>
          <a:p>
            <a:pPr marL="0" indent="450000" algn="just">
              <a:lnSpc>
                <a:spcPct val="120000"/>
              </a:lnSpc>
              <a:buNone/>
            </a:pPr>
            <a:r>
              <a:rPr lang="ru-RU" sz="3500" dirty="0" smtClean="0">
                <a:latin typeface="Times New Roman" pitchFamily="18" charset="0"/>
                <a:cs typeface="Times New Roman" pitchFamily="18" charset="0"/>
              </a:rPr>
              <a:t>Современный музыкальный </a:t>
            </a:r>
            <a:r>
              <a:rPr lang="ru-RU" sz="3500" dirty="0" err="1" smtClean="0">
                <a:latin typeface="Times New Roman" pitchFamily="18" charset="0"/>
                <a:cs typeface="Times New Roman" pitchFamily="18" charset="0"/>
              </a:rPr>
              <a:t>стриминг</a:t>
            </a:r>
            <a:r>
              <a:rPr lang="ru-RU" sz="3500" dirty="0" smtClean="0">
                <a:latin typeface="Times New Roman" pitchFamily="18" charset="0"/>
                <a:cs typeface="Times New Roman" pitchFamily="18" charset="0"/>
              </a:rPr>
              <a:t> — это область, предоставляющая пользователям легальный доступ к обширным библиотекам </a:t>
            </a:r>
            <a:r>
              <a:rPr lang="ru-RU" sz="3500" dirty="0" err="1" smtClean="0">
                <a:latin typeface="Times New Roman" pitchFamily="18" charset="0"/>
                <a:cs typeface="Times New Roman" pitchFamily="18" charset="0"/>
              </a:rPr>
              <a:t>аудиоконтента</a:t>
            </a:r>
            <a:r>
              <a:rPr lang="ru-RU" sz="3500" dirty="0" smtClean="0">
                <a:latin typeface="Times New Roman" pitchFamily="18" charset="0"/>
                <a:cs typeface="Times New Roman" pitchFamily="18" charset="0"/>
              </a:rPr>
              <a:t> через интернет на основе подписки или бесплатной модели с рекламой. Ключевыми процессами в данной области являются управление цифровым каталогом (добавление треков, альбомов, исполнителей), организация потоковой передачи аудио данных, </a:t>
            </a:r>
            <a:r>
              <a:rPr lang="ru-RU" sz="3500" dirty="0" err="1" smtClean="0">
                <a:latin typeface="Times New Roman" pitchFamily="18" charset="0"/>
                <a:cs typeface="Times New Roman" pitchFamily="18" charset="0"/>
              </a:rPr>
              <a:t>персонализация</a:t>
            </a:r>
            <a:r>
              <a:rPr lang="ru-RU" sz="3500" dirty="0" smtClean="0">
                <a:latin typeface="Times New Roman" pitchFamily="18" charset="0"/>
                <a:cs typeface="Times New Roman" pitchFamily="18" charset="0"/>
              </a:rPr>
              <a:t> пользовательского опыта за счет алгоритмов рекомендаций, а также ведение статистики прослушиваний для анализа предпочтений аудитории и расчетов с правообладателями. Автоматизация этих процессов позволяет сервису предоставлять мгновенный доступ к миллионам композиций, формировать уникальные </a:t>
            </a:r>
            <a:r>
              <a:rPr lang="ru-RU" sz="3500" dirty="0" err="1" smtClean="0">
                <a:latin typeface="Times New Roman" pitchFamily="18" charset="0"/>
                <a:cs typeface="Times New Roman" pitchFamily="18" charset="0"/>
              </a:rPr>
              <a:t>плейлисты</a:t>
            </a:r>
            <a:r>
              <a:rPr lang="ru-RU" sz="3500" dirty="0" smtClean="0">
                <a:latin typeface="Times New Roman" pitchFamily="18" charset="0"/>
                <a:cs typeface="Times New Roman" pitchFamily="18" charset="0"/>
              </a:rPr>
              <a:t> для каждого пользователя и эффективно управлять правами на интеллектуальную собственность.</a:t>
            </a:r>
          </a:p>
          <a:p>
            <a:pPr marL="0" indent="450000" algn="just">
              <a:lnSpc>
                <a:spcPct val="120000"/>
              </a:lnSpc>
              <a:buNone/>
            </a:pPr>
            <a:r>
              <a:rPr lang="ru-RU" sz="3500" b="1" dirty="0" smtClean="0">
                <a:latin typeface="Times New Roman" pitchFamily="18" charset="0"/>
                <a:cs typeface="Times New Roman" pitchFamily="18" charset="0"/>
              </a:rPr>
              <a:t>Описание объекта информатизации: </a:t>
            </a:r>
          </a:p>
          <a:p>
            <a:pPr marL="0" indent="450000" algn="just">
              <a:lnSpc>
                <a:spcPct val="120000"/>
              </a:lnSpc>
              <a:buNone/>
            </a:pPr>
            <a:r>
              <a:rPr lang="ru-RU" sz="3500" dirty="0" smtClean="0">
                <a:latin typeface="Times New Roman" pitchFamily="18" charset="0"/>
                <a:cs typeface="Times New Roman" pitchFamily="18" charset="0"/>
              </a:rPr>
              <a:t>Объектом информатизации является музыкальный стриминговый сервис. Система предоставляет доступ к библиотеке </a:t>
            </a:r>
            <a:r>
              <a:rPr lang="ru-RU" sz="3500" dirty="0" err="1" smtClean="0">
                <a:latin typeface="Times New Roman" pitchFamily="18" charset="0"/>
                <a:cs typeface="Times New Roman" pitchFamily="18" charset="0"/>
              </a:rPr>
              <a:t>аудиоконтента</a:t>
            </a:r>
            <a:r>
              <a:rPr lang="ru-RU" sz="3500" dirty="0" smtClean="0">
                <a:latin typeface="Times New Roman" pitchFamily="18" charset="0"/>
                <a:cs typeface="Times New Roman" pitchFamily="18" charset="0"/>
              </a:rPr>
              <a:t>, позволяет прослушивать музыку в потоковом режиме, создавать персонализированные </a:t>
            </a:r>
            <a:r>
              <a:rPr lang="ru-RU" sz="3500" dirty="0" err="1" smtClean="0">
                <a:latin typeface="Times New Roman" pitchFamily="18" charset="0"/>
                <a:cs typeface="Times New Roman" pitchFamily="18" charset="0"/>
              </a:rPr>
              <a:t>плейлисты</a:t>
            </a:r>
            <a:r>
              <a:rPr lang="ru-RU" sz="3500" dirty="0" smtClean="0">
                <a:latin typeface="Times New Roman" pitchFamily="18" charset="0"/>
                <a:cs typeface="Times New Roman" pitchFamily="18" charset="0"/>
              </a:rPr>
              <a:t>, управлять правами на </a:t>
            </a:r>
            <a:r>
              <a:rPr lang="ru-RU" sz="3500" dirty="0" err="1" smtClean="0">
                <a:latin typeface="Times New Roman" pitchFamily="18" charset="0"/>
                <a:cs typeface="Times New Roman" pitchFamily="18" charset="0"/>
              </a:rPr>
              <a:t>контент</a:t>
            </a:r>
            <a:r>
              <a:rPr lang="ru-RU" sz="3500" dirty="0" smtClean="0">
                <a:latin typeface="Times New Roman" pitchFamily="18" charset="0"/>
                <a:cs typeface="Times New Roman" pitchFamily="18" charset="0"/>
              </a:rPr>
              <a:t> и анализировать статистику прослушиваний. Границы системы включают в себя: каталог музыки, пользовательские </a:t>
            </a:r>
            <a:r>
              <a:rPr lang="ru-RU" sz="3500" dirty="0" err="1" smtClean="0">
                <a:latin typeface="Times New Roman" pitchFamily="18" charset="0"/>
                <a:cs typeface="Times New Roman" pitchFamily="18" charset="0"/>
              </a:rPr>
              <a:t>аккаунты</a:t>
            </a:r>
            <a:r>
              <a:rPr lang="ru-RU" sz="3500" dirty="0" smtClean="0">
                <a:latin typeface="Times New Roman" pitchFamily="18" charset="0"/>
                <a:cs typeface="Times New Roman" pitchFamily="18" charset="0"/>
              </a:rPr>
              <a:t>, систему рекомендаций, панель управления для администраторов и музыкантов.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10</a:t>
            </a:fld>
            <a:endParaRPr lang="ru-RU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1857370"/>
            <a:ext cx="8229600" cy="857250"/>
          </a:xfrm>
        </p:spPr>
        <p:txBody>
          <a:bodyPr/>
          <a:lstStyle/>
          <a:p>
            <a:r>
              <a:rPr lang="ru-RU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Спасибо за внимание!</a:t>
            </a:r>
            <a:endParaRPr lang="ru-RU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11</a:t>
            </a:fld>
            <a:endParaRPr lang="ru-RU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427</Words>
  <PresentationFormat>Экран (16:9)</PresentationFormat>
  <Paragraphs>176</Paragraphs>
  <Slides>11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2" baseType="lpstr">
      <vt:lpstr>Тема Office</vt:lpstr>
      <vt:lpstr>Слайд 1</vt:lpstr>
      <vt:lpstr>Цель и задачи проекта</vt:lpstr>
      <vt:lpstr>Список аналогов</vt:lpstr>
      <vt:lpstr>Анализ целевой аудитории проекта</vt:lpstr>
      <vt:lpstr>Описание портрета ЦА</vt:lpstr>
      <vt:lpstr>Выявление потребностей ЦА</vt:lpstr>
      <vt:lpstr>Календарный план проекта</vt:lpstr>
      <vt:lpstr>Обзор используемых технологий</vt:lpstr>
      <vt:lpstr>Анализ аналогов</vt:lpstr>
      <vt:lpstr>Описание предметной области</vt:lpstr>
      <vt:lpstr>Спасибо за внимание!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cp:lastModifiedBy>Пользователь Windows</cp:lastModifiedBy>
  <cp:revision>34</cp:revision>
  <dcterms:modified xsi:type="dcterms:W3CDTF">2025-10-30T15:17:54Z</dcterms:modified>
</cp:coreProperties>
</file>